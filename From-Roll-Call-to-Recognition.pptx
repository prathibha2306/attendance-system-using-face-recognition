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DM Sans Light" panose="020B0604020202020204" charset="0"/>
      <p:regular r:id="rId10"/>
    </p:embeddedFont>
    <p:embeddedFont>
      <p:font typeface="Manrope" panose="020B0604020202020204" charset="0"/>
      <p:regular r:id="rId11"/>
    </p:embeddedFont>
    <p:embeddedFont>
      <p:font typeface="Manrope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10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3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1032371"/>
            <a:ext cx="6296860" cy="1975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050" kern="0" spc="-2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From Roll Call to Recognition</a:t>
            </a:r>
            <a:endParaRPr lang="en-US" sz="7050" dirty="0"/>
          </a:p>
        </p:txBody>
      </p:sp>
      <p:sp>
        <p:nvSpPr>
          <p:cNvPr id="4" name="Text 1"/>
          <p:cNvSpPr/>
          <p:nvPr/>
        </p:nvSpPr>
        <p:spPr>
          <a:xfrm>
            <a:off x="5233360" y="3263305"/>
            <a:ext cx="6906444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Deep Learning-Based Face Recognition Attendance System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3700264"/>
            <a:ext cx="6296860" cy="1443335"/>
          </a:xfrm>
          <a:prstGeom prst="roundRect">
            <a:avLst>
              <a:gd name="adj" fmla="val 11197"/>
            </a:avLst>
          </a:prstGeom>
          <a:solidFill>
            <a:srgbClr val="D4F7F5"/>
          </a:solidFill>
          <a:ln/>
        </p:spPr>
      </p:sp>
      <p:sp>
        <p:nvSpPr>
          <p:cNvPr id="6" name="Text 3"/>
          <p:cNvSpPr/>
          <p:nvPr/>
        </p:nvSpPr>
        <p:spPr>
          <a:xfrm>
            <a:off x="5412843" y="3879751"/>
            <a:ext cx="5937895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53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Presented by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2843" y="4228902"/>
            <a:ext cx="5937895" cy="735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Harshitha – 4SF23CS073</a:t>
            </a:r>
            <a:endParaRPr lang="en-US" sz="14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Prathibha – 4SF23CS154</a:t>
            </a:r>
            <a:endParaRPr lang="en-US" sz="14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Swathi – 4SF23CS227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33360" y="5335488"/>
            <a:ext cx="6296860" cy="49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Department of Computer Science and Engineering</a:t>
            </a:r>
            <a:endParaRPr lang="en-US" sz="14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Sahyadri College of Engineering and Management, Mangaluru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11164F-3AB2-9CAF-A2CD-F89ED489F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208" y="6419789"/>
            <a:ext cx="1914792" cy="438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BD68C2-7E41-B43D-8989-76A1E6A8B9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35"/>
          <a:stretch>
            <a:fillRect/>
          </a:stretch>
        </p:blipFill>
        <p:spPr>
          <a:xfrm>
            <a:off x="-14516" y="-18596"/>
            <a:ext cx="4929415" cy="6876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61475" y="1092895"/>
            <a:ext cx="1533288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149548"/>
            <a:ext cx="19160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455638"/>
            <a:ext cx="6296860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0" spc="-1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Introduction &amp; Objectives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4" y="2258913"/>
            <a:ext cx="10680043" cy="1426965"/>
          </a:xfrm>
          <a:prstGeom prst="roundRect">
            <a:avLst>
              <a:gd name="adj" fmla="val 9400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50482" y="2447925"/>
            <a:ext cx="591884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Introduction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2821186"/>
            <a:ext cx="10035232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 attendance is time-consuming. Face recognition provides a contactless alternative. Deep Learning enables effective facial representations, and this project leverages </a:t>
            </a:r>
            <a:r>
              <a:rPr lang="en-US" sz="14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FaceNet CNN</a:t>
            </a: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robust face recognition.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44936" y="4068664"/>
            <a:ext cx="7716465" cy="148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objectives:</a:t>
            </a:r>
          </a:p>
          <a:p>
            <a:pPr marL="285750" indent="-285750" algn="l">
              <a:lnSpc>
                <a:spcPct val="117000"/>
              </a:lnSpc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 classroom attendance,</a:t>
            </a:r>
          </a:p>
          <a:p>
            <a:pPr marL="285750" indent="-285750" algn="l">
              <a:lnSpc>
                <a:spcPct val="117000"/>
              </a:lnSpc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 and store student face images</a:t>
            </a:r>
          </a:p>
          <a:p>
            <a:pPr marL="285750" indent="-285750" algn="l">
              <a:lnSpc>
                <a:spcPct val="117000"/>
              </a:lnSpc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 face embeddings using </a:t>
            </a:r>
            <a:r>
              <a:rPr lang="en-US" sz="1450" dirty="0" err="1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FaceNet</a:t>
            </a:r>
            <a:endParaRPr lang="en-US" sz="1450" dirty="0">
              <a:solidFill>
                <a:srgbClr val="272525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Recognize students via cosine similarity</a:t>
            </a:r>
          </a:p>
          <a:p>
            <a:pPr marL="285750" indent="-285750" algn="l">
              <a:lnSpc>
                <a:spcPct val="117000"/>
              </a:lnSpc>
              <a:buFont typeface="Wingdings" panose="05000000000000000000" pitchFamily="2" charset="2"/>
              <a:buChar char="ü"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Store attendance digitally.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81289"/>
            <a:ext cx="25399" cy="1483717"/>
          </a:xfrm>
          <a:prstGeom prst="roundRect">
            <a:avLst>
              <a:gd name="adj" fmla="val 50001"/>
            </a:avLst>
          </a:prstGeom>
          <a:solidFill>
            <a:srgbClr val="28D3C9"/>
          </a:solidFill>
          <a:ln/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5CC21C-5F29-7D37-E2D1-A711C2775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208" y="6419789"/>
            <a:ext cx="1914792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216193" cy="264220"/>
          </a:xfrm>
          <a:prstGeom prst="roundRect">
            <a:avLst>
              <a:gd name="adj" fmla="val 47403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65751" y="571897"/>
            <a:ext cx="1617225" cy="16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48023"/>
            <a:ext cx="10868745" cy="47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03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Proposed System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659" y="1746548"/>
            <a:ext cx="8175718" cy="3067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4530" y="3979449"/>
            <a:ext cx="1233127" cy="41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128-D Embedding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930452" y="4083972"/>
            <a:ext cx="1233127" cy="209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FaceNet CNN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384820" y="4083972"/>
            <a:ext cx="1233127" cy="209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Haar Detection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839188" y="4083972"/>
            <a:ext cx="1233127" cy="209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Image Capture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59772" y="4083972"/>
            <a:ext cx="1233127" cy="209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Enrollment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702359" y="2531864"/>
            <a:ext cx="1834112" cy="1497211"/>
          </a:xfrm>
          <a:prstGeom prst="roundRect">
            <a:avLst>
              <a:gd name="adj" fmla="val 10457"/>
            </a:avLst>
          </a:prstGeom>
          <a:solidFill>
            <a:srgbClr val="6F8F99"/>
          </a:solidFill>
          <a:ln/>
        </p:spPr>
      </p:sp>
      <p:sp>
        <p:nvSpPr>
          <p:cNvPr id="12" name="Text 9"/>
          <p:cNvSpPr/>
          <p:nvPr/>
        </p:nvSpPr>
        <p:spPr>
          <a:xfrm>
            <a:off x="9876285" y="2719388"/>
            <a:ext cx="1486260" cy="1122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integrates Python, OpenCV, FaceNet, DeepFace, Tkinter, and MySQL into a seamless pipeline.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1475" y="5174655"/>
            <a:ext cx="391309" cy="391319"/>
          </a:xfrm>
          <a:prstGeom prst="roundRect">
            <a:avLst>
              <a:gd name="adj" fmla="val 40009"/>
            </a:avLst>
          </a:prstGeom>
          <a:solidFill>
            <a:srgbClr val="D4F7F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710" y="5239841"/>
            <a:ext cx="260840" cy="26084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12820" y="5250755"/>
            <a:ext cx="2938191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0" spc="-5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Python &amp; OpenCV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212820" y="5586016"/>
            <a:ext cx="2938191" cy="748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programming language and computer vision library used for image capture, processing, and Haar Cascade-based face detection.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51030" y="5174655"/>
            <a:ext cx="391309" cy="391319"/>
          </a:xfrm>
          <a:prstGeom prst="roundRect">
            <a:avLst>
              <a:gd name="adj" fmla="val 40009"/>
            </a:avLst>
          </a:prstGeom>
          <a:solidFill>
            <a:srgbClr val="D4F7F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6265" y="5239841"/>
            <a:ext cx="260840" cy="26084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2375" y="5250755"/>
            <a:ext cx="2938191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0" spc="-5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FaceNet &amp; DeepFace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902375" y="5586016"/>
            <a:ext cx="2938191" cy="56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 frameworks that generate and process 128-dimensional facial embeddings for accurate identity recognition.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040586" y="5174655"/>
            <a:ext cx="391309" cy="391319"/>
          </a:xfrm>
          <a:prstGeom prst="roundRect">
            <a:avLst>
              <a:gd name="adj" fmla="val 40009"/>
            </a:avLst>
          </a:prstGeom>
          <a:solidFill>
            <a:srgbClr val="D4F7F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5820" y="5239841"/>
            <a:ext cx="260840" cy="26084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91930" y="5250755"/>
            <a:ext cx="2938191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0" spc="-5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Tkinter &amp; MySQL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591930" y="5586016"/>
            <a:ext cx="2938191" cy="56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GUI toolkit and relational database used to provide an interactive interface and persistent attendance record storage.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640922-6EBD-ADF6-38FE-FBF0D69EB2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6384" y="6368415"/>
            <a:ext cx="1914792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24372"/>
            <a:ext cx="1325033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81026"/>
            <a:ext cx="17078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87116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0" spc="-1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FaceNet-Based Deep Learning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62932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Haar Cascade Detection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36193"/>
            <a:ext cx="3629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Face is detected in each frame using Haar Cascade, isolating the region of interest for further processing.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267" y="2490391"/>
            <a:ext cx="3043161" cy="30432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23994" y="2740124"/>
            <a:ext cx="472468" cy="472480"/>
          </a:xfrm>
          <a:prstGeom prst="ellipse">
            <a:avLst/>
          </a:prstGeom>
          <a:solidFill>
            <a:srgbClr val="7FFFD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868" y="2870002"/>
            <a:ext cx="212620" cy="2126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00889" y="2530574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FaceNet CNN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7900889" y="2903835"/>
            <a:ext cx="3629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detected face is processed by FaceNet CNN to extract a compact, discriminative 128-dimensional embedding.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267" y="2490391"/>
            <a:ext cx="3043161" cy="30432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95134" y="2740124"/>
            <a:ext cx="472468" cy="472480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5008" y="2870002"/>
            <a:ext cx="212620" cy="2126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00889" y="4326235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128-D Embedding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7900889" y="4699496"/>
            <a:ext cx="3629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128-dimensional vector uniquely represents each face. Student prototype embeddings are stored for comparison.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4267" y="2490391"/>
            <a:ext cx="3043161" cy="304323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895134" y="4811316"/>
            <a:ext cx="472468" cy="472480"/>
          </a:xfrm>
          <a:prstGeom prst="ellipse">
            <a:avLst/>
          </a:prstGeom>
          <a:solidFill>
            <a:srgbClr val="6F8F99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25008" y="4941193"/>
            <a:ext cx="212620" cy="2126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1475" y="4326235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Cosine Similarity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661475" y="4699496"/>
            <a:ext cx="3629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embeddings are compared against stored prototypes. A threshold of </a:t>
            </a:r>
            <a:r>
              <a:rPr lang="en-US" sz="14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0.65</a:t>
            </a: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determines a successful match.</a:t>
            </a:r>
            <a:endParaRPr lang="en-US" sz="14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4267" y="2490391"/>
            <a:ext cx="3043161" cy="304323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823994" y="4811316"/>
            <a:ext cx="472468" cy="472480"/>
          </a:xfrm>
          <a:prstGeom prst="ellipse">
            <a:avLst/>
          </a:prstGeom>
          <a:solidFill>
            <a:srgbClr val="2F4F4F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53868" y="4941193"/>
            <a:ext cx="212620" cy="2126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B8C3C3-354D-1F6C-144A-B8C7F79523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7208" y="6374069"/>
            <a:ext cx="1914792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3951"/>
            <a:ext cx="1184245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10605"/>
            <a:ext cx="15670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16695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0" spc="-1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Attendance Management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819970"/>
            <a:ext cx="10868745" cy="1280517"/>
          </a:xfrm>
          <a:prstGeom prst="roundRect">
            <a:avLst>
              <a:gd name="adj" fmla="val 13285"/>
            </a:avLst>
          </a:prstGeom>
          <a:solidFill>
            <a:srgbClr val="D4F7F5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008981"/>
            <a:ext cx="104907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Faculty-Controlled Review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382242"/>
            <a:ext cx="104907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Recognized students are placed in a review queue. Faculty verify entries, prevent duplicates, and mark unrecognized students absent before final submission.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3313113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80606"/>
            <a:ext cx="5339820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3725863"/>
            <a:ext cx="533982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Recognition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4099123"/>
            <a:ext cx="5339820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FaceNet identifies students in the live camera feed using cosine similarity against stored embeddings.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90301" y="3313113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580606"/>
            <a:ext cx="5339919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301" y="3725863"/>
            <a:ext cx="5339919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Review Queue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190301" y="4099123"/>
            <a:ext cx="533991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Recognized entries are queued for faculty verification, ensuring accuracy before records are finalized.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1475" y="4853087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5120580"/>
            <a:ext cx="5339820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265837"/>
            <a:ext cx="533982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Present / Absent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5639098"/>
            <a:ext cx="5339820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Faculty confirm present students and mark unrecognized individuals absent, with duplicate prevention enforced.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90301" y="4853087"/>
            <a:ext cx="378014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5120580"/>
            <a:ext cx="5339919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5265837"/>
            <a:ext cx="5339919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MySQL &amp; CSV Export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190301" y="5639098"/>
            <a:ext cx="533991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Finalized attendance is stored in MySQL and can be exported as a CSV report for further use.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C0DBB3-1D3A-68C2-CF85-5104CEA50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208" y="6396929"/>
            <a:ext cx="1914792" cy="438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54772" y="1009551"/>
            <a:ext cx="1092867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6577262" y="1046947"/>
            <a:ext cx="14756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77262" y="1385887"/>
            <a:ext cx="6296860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kern="0" spc="-112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Results &amp; Observations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39255" y="2175570"/>
            <a:ext cx="1972915" cy="3248620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771578" y="2364074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7545" y="2520553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2409" y="3101677"/>
            <a:ext cx="159490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Correct Student: ~0.98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822409" y="3671808"/>
            <a:ext cx="1594902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Cosine similarity for a correctly matched student was approximately 0.98, well above the 0.65 threshold, confirming strong recognition.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584290" y="3753743"/>
            <a:ext cx="1594902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557205" y="2175570"/>
            <a:ext cx="1972915" cy="3248620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9746212" y="2364581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2180" y="2520553"/>
            <a:ext cx="255085" cy="2550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46212" y="3120628"/>
            <a:ext cx="159490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kern="0" spc="-56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Every 5th Frame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9746212" y="3753743"/>
            <a:ext cx="1594902" cy="126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Recognition runs every fifth frame to reduce CNN computation overhead and ensure smoother real-time operation.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48958" y="5688721"/>
            <a:ext cx="5743042" cy="287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Note:</a:t>
            </a: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Similarity values are from a limited offline test, not overall classroom accuracy.</a:t>
            </a: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71A138-5D2D-7859-9B67-55E714B39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483" y="6380678"/>
            <a:ext cx="1914792" cy="4382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E7B721-C95E-56FD-B61D-993CB21BA0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6199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61475" y="2845594"/>
            <a:ext cx="1067170" cy="282674"/>
          </a:xfrm>
          <a:prstGeom prst="roundRect">
            <a:avLst>
              <a:gd name="adj" fmla="val 47393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73093" y="2901355"/>
            <a:ext cx="145351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550491"/>
            <a:ext cx="10868745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50" kern="0" spc="-11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Conclusion &amp; Future Scope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661475" y="4025305"/>
            <a:ext cx="3500747" cy="186035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47505" y="4394498"/>
            <a:ext cx="312868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5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7505" y="4760119"/>
            <a:ext cx="3128686" cy="82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face-based automated attendance system integrating FaceNet CNN, cosine similarity, attendance review, MySQL storage, and CSV reporting.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5375" y="3543002"/>
            <a:ext cx="3500846" cy="186035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4531405" y="3912195"/>
            <a:ext cx="3128785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5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Immediate Improvements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31405" y="4277816"/>
            <a:ext cx="3128785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 face detection accuracy, add face alignment preprocessing, and implement liveness detection to prevent spoofing.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29374" y="3060700"/>
            <a:ext cx="3500747" cy="186035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8215405" y="3429893"/>
            <a:ext cx="312868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55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Long-Term Vision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15405" y="3795514"/>
            <a:ext cx="3128686" cy="826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 large-scale accuracy evaluation, strengthen privacy and secure storage, and extend the system to cloud-based deployment.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4621B2-53A1-C90D-B1A6-3494C9BE0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903" y="6419789"/>
            <a:ext cx="1914792" cy="438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528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Manrope</vt:lpstr>
      <vt:lpstr>Manrope Bold</vt:lpstr>
      <vt:lpstr>Wingdings</vt:lpstr>
      <vt:lpstr>Arial</vt:lpstr>
      <vt:lpstr>DM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Prathibha Naik</cp:lastModifiedBy>
  <cp:revision>6</cp:revision>
  <dcterms:created xsi:type="dcterms:W3CDTF">2026-09-21T05:47:56Z</dcterms:created>
  <dcterms:modified xsi:type="dcterms:W3CDTF">2026-09-23T03:13:50Z</dcterms:modified>
</cp:coreProperties>
</file>